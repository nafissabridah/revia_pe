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2e0039f-8668-56dd-27a6-b5b0334cc0ad}">
          <p14:sldIdLst>
            <p14:sldId id="256"/>
            <p14:sldId id="257"/>
            <p14:sldId id="258"/>
          </p14:sldIdLst>
        </p14:section>
        <p14:section name="L'application" id="{6b6296b5-aafb-1562-bcfe-fad72de5fb4b}">
          <p14:sldIdLst>
            <p14:sldId id="259"/>
            <p14:sldId id="260"/>
            <p14:sldId id="261"/>
          </p14:sldIdLst>
        </p14:section>
        <p14:section name="Assistant IA" id="{10f71ffc-8d9b-ee25-d360-e0f70d6caa95}">
          <p14:sldIdLst>
            <p14:sldId id="262"/>
            <p14:sldId id="263"/>
          </p14:sldIdLst>
        </p14:section>
        <p14:section name="Confiance" id="{5b40b42a-e10f-e98c-06f7-67b6edcd38cc}">
          <p14:sldIdLst>
            <p14:sldId id="264"/>
            <p14:sldId id="265"/>
            <p14:sldId id="266"/>
            <p14:sldId id="267"/>
          </p14:sldIdLst>
        </p14:section>
        <p14:section name="Conclusion" id="{c4d89236-fa18-22e8-dc0d-af7428515f2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Nous allons vous présenter RevIA, une application web qui relit votre code comme le ferait un collègue expérimenté, grâce à l'intelligence artificielle.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constat de départ : relire du code prend du temps, des failles de sécurité passent inaperçues, et les étudiants manquent souvent d'explications sur leurs erreurs.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principe est simple : on colle son code, l'IA l'analyse en quelques secondes, et on reçoit un rapport avec des explications et des corrections.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le rapport obtenu. À gauche le code avec les lignes concernées surlignées, à droite le score et la liste des problèmes, classés du plus grave au moins grave.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chaque problème, l'utilisateur voit le code avant et après correction, une explication du risque, et peut copier la correction directement.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développeur suit sa progression : le tableau de bord montre l'évolution de son score, l'historique garde toutes ses revues.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Au-delà de la revue, RevIA propose un assistant : on lui pose une question sur son code, et la réponse s'affiche en direct, comme dans une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outils prêts à l'emploi : générer des tests, documenter, expliquer un code à un débutant, rédiger un message de commit, améliorer le code, ou le convertir dans un autre langage.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parcours d'une analyse en cinq étapes. Les deux étapes en couleur protègent l'utilisateur : rien de sensible ne part chez Google, et rien n'est affiché sans avoir été vérifié.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sécurité était une priorité : les secrets sont masqués avant l'envoi, la clé de l'IA ne quitte pas le serveur, et l'usage est limité pour maîtriser les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prouver la qualité, nous avons préparé 23 extraits de code. L'IA a trouvé 19 défauts sur 20, sans aucune fausse alerte sur les codes sains, en 1,5 seconde en moyenne.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L'administrateur gère les comptes et peut améliorer les consignes données à l'IA en publiant une nouvelle version, sans redémarrer l'application.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lui-même a été construit avec l'aide d'une IA, en 44 demandes successives. Nous en retenons trois leçons : être précis, vérifier, et mesurer.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de votre attention. Nous pouvons maintenant faire une démonstration en direct et répondre à vos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206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4114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RevIA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Votre assistant intelligent de revue de code</a:t>
            </a:r>
            <a:endParaRPr lang="en-US" sz="2000" dirty="0"/>
          </a:p>
        </p:txBody>
      </p:sp>
      <p:sp>
        <p:nvSpPr>
          <p:cNvPr id="4" name="surtitre"/>
          <p:cNvSpPr txBox="1"/>
          <p:nvPr/>
        </p:nvSpPr>
        <p:spPr>
          <a:xfrm>
            <a:off x="54864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MINI-PROJET · SUJET 4</a:t>
            </a:r>
            <a:endParaRPr lang="en-US" sz="1200" dirty="0"/>
          </a:p>
        </p:txBody>
      </p:sp>
      <p:sp>
        <p:nvSpPr>
          <p:cNvPr id="5" name="equipe"/>
          <p:cNvSpPr txBox="1"/>
          <p:nvPr/>
        </p:nvSpPr>
        <p:spPr>
          <a:xfrm>
            <a:off x="548640" y="3840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Équipe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Nafissa Bridah · Rahma Kehrji · Housine Saihi · Aziz Eifa · Mustapha Sifaoui</a:t>
            </a:r>
            <a:endParaRPr lang="en-US" sz="1200" dirty="0"/>
          </a:p>
        </p:txBody>
      </p:sp>
      <p:sp>
        <p:nvSpPr>
          <p:cNvPr id="6" name="capture-rapport-cadre"/>
          <p:cNvSpPr/>
          <p:nvPr/>
        </p:nvSpPr>
        <p:spPr>
          <a:xfrm>
            <a:off x="4846320" y="1051560"/>
            <a:ext cx="3977640" cy="2520315"/>
          </a:xfrm>
          <a:prstGeom prst="roundRect">
            <a:avLst>
              <a:gd name="adj" fmla="val 2902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7" name="capture-rapport" descr="Rapport de revue Rev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97280"/>
            <a:ext cx="3886200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Pourquoi RevIA ?</a:t>
            </a:r>
            <a:endParaRPr lang="en-US" sz="3000" dirty="0"/>
          </a:p>
        </p:txBody>
      </p:sp>
      <p:sp>
        <p:nvSpPr>
          <p:cNvPr id="3" name="carte-probleme-1"/>
          <p:cNvSpPr/>
          <p:nvPr/>
        </p:nvSpPr>
        <p:spPr>
          <a:xfrm>
            <a:off x="457200" y="13258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probleme-1-cercle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obleme-1-icone" descr="probleme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60220"/>
            <a:ext cx="320040" cy="320040"/>
          </a:xfrm>
          <a:prstGeom prst="rect">
            <a:avLst/>
          </a:prstGeom>
        </p:spPr>
      </p:pic>
      <p:sp>
        <p:nvSpPr>
          <p:cNvPr id="6" name="probleme-titre-1"/>
          <p:cNvSpPr txBox="1"/>
          <p:nvPr/>
        </p:nvSpPr>
        <p:spPr>
          <a:xfrm>
            <a:off x="73152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Relire du code prend du temps</a:t>
            </a:r>
            <a:endParaRPr lang="en-US" sz="1700" dirty="0"/>
          </a:p>
        </p:txBody>
      </p:sp>
      <p:sp>
        <p:nvSpPr>
          <p:cNvPr id="7" name="probleme-texte-1"/>
          <p:cNvSpPr txBox="1"/>
          <p:nvPr/>
        </p:nvSpPr>
        <p:spPr>
          <a:xfrm>
            <a:off x="731520" y="31089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Une bonne revue demande un collègue disponible et attentif. Ce n'est pas toujours possible.</a:t>
            </a:r>
            <a:endParaRPr lang="en-US" sz="1400" dirty="0"/>
          </a:p>
        </p:txBody>
      </p:sp>
      <p:sp>
        <p:nvSpPr>
          <p:cNvPr id="8" name="carte-probleme-2"/>
          <p:cNvSpPr/>
          <p:nvPr/>
        </p:nvSpPr>
        <p:spPr>
          <a:xfrm>
            <a:off x="3264408" y="13258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probleme-2-cercle"/>
          <p:cNvSpPr/>
          <p:nvPr/>
        </p:nvSpPr>
        <p:spPr>
          <a:xfrm>
            <a:off x="3538728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robleme-2-icone" descr="probleme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1760220"/>
            <a:ext cx="320040" cy="320040"/>
          </a:xfrm>
          <a:prstGeom prst="rect">
            <a:avLst/>
          </a:prstGeom>
        </p:spPr>
      </p:pic>
      <p:sp>
        <p:nvSpPr>
          <p:cNvPr id="11" name="probleme-titre-2"/>
          <p:cNvSpPr txBox="1"/>
          <p:nvPr/>
        </p:nvSpPr>
        <p:spPr>
          <a:xfrm>
            <a:off x="3538728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 failles passent inaperçues</a:t>
            </a:r>
            <a:endParaRPr lang="en-US" sz="1700" dirty="0"/>
          </a:p>
        </p:txBody>
      </p:sp>
      <p:sp>
        <p:nvSpPr>
          <p:cNvPr id="12" name="probleme-texte-2"/>
          <p:cNvSpPr txBox="1"/>
          <p:nvPr/>
        </p:nvSpPr>
        <p:spPr>
          <a:xfrm>
            <a:off x="3538728" y="31089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 mot de passe écrit dans le code ou une requête mal construite peuvent ouvrir la porte à une attaque.</a:t>
            </a:r>
            <a:endParaRPr lang="en-US" sz="1400" dirty="0"/>
          </a:p>
        </p:txBody>
      </p:sp>
      <p:sp>
        <p:nvSpPr>
          <p:cNvPr id="13" name="carte-probleme-3"/>
          <p:cNvSpPr/>
          <p:nvPr/>
        </p:nvSpPr>
        <p:spPr>
          <a:xfrm>
            <a:off x="6071616" y="132588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probleme-3-cercle"/>
          <p:cNvSpPr/>
          <p:nvPr/>
        </p:nvSpPr>
        <p:spPr>
          <a:xfrm>
            <a:off x="6345936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robleme-3-icone" descr="probleme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760220"/>
            <a:ext cx="320040" cy="320040"/>
          </a:xfrm>
          <a:prstGeom prst="rect">
            <a:avLst/>
          </a:prstGeom>
        </p:spPr>
      </p:pic>
      <p:sp>
        <p:nvSpPr>
          <p:cNvPr id="16" name="probleme-titre-3"/>
          <p:cNvSpPr txBox="1"/>
          <p:nvPr/>
        </p:nvSpPr>
        <p:spPr>
          <a:xfrm>
            <a:off x="6345936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Les débutants manquent de retours</a:t>
            </a:r>
            <a:endParaRPr lang="en-US" sz="1700" dirty="0"/>
          </a:p>
        </p:txBody>
      </p:sp>
      <p:sp>
        <p:nvSpPr>
          <p:cNvPr id="17" name="probleme-texte-3"/>
          <p:cNvSpPr txBox="1"/>
          <p:nvPr/>
        </p:nvSpPr>
        <p:spPr>
          <a:xfrm>
            <a:off x="6345936" y="31089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Sans explication, on répète les mêmes erreurs sans comprendre pourquoi elles posent problème.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Notre idée : un collègue qui relit votre code</a:t>
            </a:r>
            <a:endParaRPr lang="en-US" sz="3000" dirty="0"/>
          </a:p>
        </p:txBody>
      </p:sp>
      <p:sp>
        <p:nvSpPr>
          <p:cNvPr id="3" name="etape-1-cercle"/>
          <p:cNvSpPr/>
          <p:nvPr/>
        </p:nvSpPr>
        <p:spPr>
          <a:xfrm>
            <a:off x="457200" y="14173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etape-1-icone" descr="etape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634490"/>
            <a:ext cx="434340" cy="434340"/>
          </a:xfrm>
          <a:prstGeom prst="rect">
            <a:avLst/>
          </a:prstGeom>
        </p:spPr>
      </p:pic>
      <p:sp>
        <p:nvSpPr>
          <p:cNvPr id="5" name="fleche-1"/>
          <p:cNvSpPr/>
          <p:nvPr/>
        </p:nvSpPr>
        <p:spPr>
          <a:xfrm>
            <a:off x="1554480" y="1691640"/>
            <a:ext cx="1417320" cy="320040"/>
          </a:xfrm>
          <a:prstGeom prst="rightArrow">
            <a:avLst/>
          </a:prstGeom>
          <a:solidFill>
            <a:srgbClr val="D9DBEA"/>
          </a:solidFill>
          <a:ln/>
        </p:spPr>
      </p:sp>
      <p:sp>
        <p:nvSpPr>
          <p:cNvPr id="6" name="etape-titre-1"/>
          <p:cNvSpPr txBox="1"/>
          <p:nvPr/>
        </p:nvSpPr>
        <p:spPr>
          <a:xfrm>
            <a:off x="45720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Collez votre code</a:t>
            </a:r>
            <a:endParaRPr lang="en-US" sz="1800" dirty="0"/>
          </a:p>
        </p:txBody>
      </p:sp>
      <p:sp>
        <p:nvSpPr>
          <p:cNvPr id="7" name="etape-texte-1"/>
          <p:cNvSpPr txBox="1"/>
          <p:nvPr/>
        </p:nvSpPr>
        <p:spPr>
          <a:xfrm>
            <a:off x="457200" y="2971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Java, Python, JavaScript, PHP, C… ou importez un fichier.</a:t>
            </a:r>
            <a:endParaRPr lang="en-US" sz="1400" dirty="0"/>
          </a:p>
        </p:txBody>
      </p:sp>
      <p:sp>
        <p:nvSpPr>
          <p:cNvPr id="8" name="etape-2-cercle"/>
          <p:cNvSpPr/>
          <p:nvPr/>
        </p:nvSpPr>
        <p:spPr>
          <a:xfrm>
            <a:off x="3291840" y="14173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etape-2-icone" descr="etape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010" y="1634490"/>
            <a:ext cx="434340" cy="434340"/>
          </a:xfrm>
          <a:prstGeom prst="rect">
            <a:avLst/>
          </a:prstGeom>
        </p:spPr>
      </p:pic>
      <p:sp>
        <p:nvSpPr>
          <p:cNvPr id="10" name="fleche-2"/>
          <p:cNvSpPr/>
          <p:nvPr/>
        </p:nvSpPr>
        <p:spPr>
          <a:xfrm>
            <a:off x="4389120" y="1691640"/>
            <a:ext cx="1417320" cy="320040"/>
          </a:xfrm>
          <a:prstGeom prst="rightArrow">
            <a:avLst/>
          </a:prstGeom>
          <a:solidFill>
            <a:srgbClr val="D9DBEA"/>
          </a:solidFill>
          <a:ln/>
        </p:spPr>
      </p:sp>
      <p:sp>
        <p:nvSpPr>
          <p:cNvPr id="11" name="etape-titre-2"/>
          <p:cNvSpPr txBox="1"/>
          <p:nvPr/>
        </p:nvSpPr>
        <p:spPr>
          <a:xfrm>
            <a:off x="329184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L'IA l'analyse</a:t>
            </a:r>
            <a:endParaRPr lang="en-US" sz="1800" dirty="0"/>
          </a:p>
        </p:txBody>
      </p:sp>
      <p:sp>
        <p:nvSpPr>
          <p:cNvPr id="12" name="etape-texte-2"/>
          <p:cNvSpPr txBox="1"/>
          <p:nvPr/>
        </p:nvSpPr>
        <p:spPr>
          <a:xfrm>
            <a:off x="3291840" y="2971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En quelques secondes, elle cherche les bugs, les failles et les mauvaises pratiques.</a:t>
            </a:r>
            <a:endParaRPr lang="en-US" sz="1400" dirty="0"/>
          </a:p>
        </p:txBody>
      </p:sp>
      <p:sp>
        <p:nvSpPr>
          <p:cNvPr id="13" name="etape-3-cercle"/>
          <p:cNvSpPr/>
          <p:nvPr/>
        </p:nvSpPr>
        <p:spPr>
          <a:xfrm>
            <a:off x="6126480" y="14173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etape-3-icone" descr="etape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634490"/>
            <a:ext cx="434340" cy="434340"/>
          </a:xfrm>
          <a:prstGeom prst="rect">
            <a:avLst/>
          </a:prstGeom>
        </p:spPr>
      </p:pic>
      <p:sp>
        <p:nvSpPr>
          <p:cNvPr id="15" name="etape-titre-3"/>
          <p:cNvSpPr txBox="1"/>
          <p:nvPr/>
        </p:nvSpPr>
        <p:spPr>
          <a:xfrm>
            <a:off x="612648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Vous corrigez</a:t>
            </a:r>
            <a:endParaRPr lang="en-US" sz="1800" dirty="0"/>
          </a:p>
        </p:txBody>
      </p:sp>
      <p:sp>
        <p:nvSpPr>
          <p:cNvPr id="16" name="etape-texte-3"/>
          <p:cNvSpPr txBox="1"/>
          <p:nvPr/>
        </p:nvSpPr>
        <p:spPr>
          <a:xfrm>
            <a:off x="6126480" y="2971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 rapport clair, une explication et une correction prête à copier.</a:t>
            </a:r>
            <a:endParaRPr lang="en-US" sz="1400" dirty="0"/>
          </a:p>
        </p:txBody>
      </p:sp>
      <p:sp>
        <p:nvSpPr>
          <p:cNvPr id="17" name="bandeau-slogan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8" name="slogan"/>
          <p:cNvSpPr txBox="1"/>
          <p:nvPr/>
        </p:nvSpPr>
        <p:spPr>
          <a:xfrm>
            <a:off x="68580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« RevIA relit votre code comme un collègue, et vous explique pourquoi. 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 rapport clair en quelques secondes</a:t>
            </a:r>
            <a:endParaRPr lang="en-US" sz="3000" dirty="0"/>
          </a:p>
        </p:txBody>
      </p:sp>
      <p:sp>
        <p:nvSpPr>
          <p:cNvPr id="3" name="capture-rapport-cadre"/>
          <p:cNvSpPr/>
          <p:nvPr/>
        </p:nvSpPr>
        <p:spPr>
          <a:xfrm>
            <a:off x="411480" y="1143000"/>
            <a:ext cx="5486400" cy="3463290"/>
          </a:xfrm>
          <a:prstGeom prst="roundRect">
            <a:avLst>
              <a:gd name="adj" fmla="val 2112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4" name="capture-rapport" descr="Page du rapport de rev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3371850"/>
          </a:xfrm>
          <a:prstGeom prst="rect">
            <a:avLst/>
          </a:prstGeom>
        </p:spPr>
      </p:pic>
      <p:sp>
        <p:nvSpPr>
          <p:cNvPr id="5" name="rapport-1-cercle"/>
          <p:cNvSpPr/>
          <p:nvPr/>
        </p:nvSpPr>
        <p:spPr>
          <a:xfrm>
            <a:off x="6172200" y="1188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rapport-1-icone" descr="rapport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30" y="1314450"/>
            <a:ext cx="251460" cy="251460"/>
          </a:xfrm>
          <a:prstGeom prst="rect">
            <a:avLst/>
          </a:prstGeom>
        </p:spPr>
      </p:pic>
      <p:sp>
        <p:nvSpPr>
          <p:cNvPr id="7" name="rapport-titre-1"/>
          <p:cNvSpPr txBox="1"/>
          <p:nvPr/>
        </p:nvSpPr>
        <p:spPr>
          <a:xfrm>
            <a:off x="6812280" y="1170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score sur 100</a:t>
            </a:r>
            <a:endParaRPr lang="en-US" sz="1600" dirty="0"/>
          </a:p>
        </p:txBody>
      </p:sp>
      <p:sp>
        <p:nvSpPr>
          <p:cNvPr id="8" name="rapport-texte-1"/>
          <p:cNvSpPr txBox="1"/>
          <p:nvPr/>
        </p:nvSpPr>
        <p:spPr>
          <a:xfrm>
            <a:off x="681228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Pour voir d'un coup d'œil la qualité du code.</a:t>
            </a:r>
            <a:endParaRPr lang="en-US" sz="1300" dirty="0"/>
          </a:p>
        </p:txBody>
      </p:sp>
      <p:sp>
        <p:nvSpPr>
          <p:cNvPr id="9" name="rapport-2-cercle"/>
          <p:cNvSpPr/>
          <p:nvPr/>
        </p:nvSpPr>
        <p:spPr>
          <a:xfrm>
            <a:off x="6172200" y="2331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apport-2-icone" descr="rapport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2457450"/>
            <a:ext cx="251460" cy="251460"/>
          </a:xfrm>
          <a:prstGeom prst="rect">
            <a:avLst/>
          </a:prstGeom>
        </p:spPr>
      </p:pic>
      <p:sp>
        <p:nvSpPr>
          <p:cNvPr id="11" name="rapport-titre-2"/>
          <p:cNvSpPr txBox="1"/>
          <p:nvPr/>
        </p:nvSpPr>
        <p:spPr>
          <a:xfrm>
            <a:off x="6812280" y="2313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Problèmes classés</a:t>
            </a:r>
            <a:endParaRPr lang="en-US" sz="1600" dirty="0"/>
          </a:p>
        </p:txBody>
      </p:sp>
      <p:sp>
        <p:nvSpPr>
          <p:cNvPr id="12" name="rapport-texte-2"/>
          <p:cNvSpPr txBox="1"/>
          <p:nvPr/>
        </p:nvSpPr>
        <p:spPr>
          <a:xfrm>
            <a:off x="681228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Critique, majeur, mineur : on sait par quoi commencer.</a:t>
            </a:r>
            <a:endParaRPr lang="en-US" sz="1300" dirty="0"/>
          </a:p>
        </p:txBody>
      </p:sp>
      <p:sp>
        <p:nvSpPr>
          <p:cNvPr id="13" name="rapport-3-cercle"/>
          <p:cNvSpPr/>
          <p:nvPr/>
        </p:nvSpPr>
        <p:spPr>
          <a:xfrm>
            <a:off x="6172200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rapport-3-icone" descr="rapport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930" y="3600450"/>
            <a:ext cx="251460" cy="251460"/>
          </a:xfrm>
          <a:prstGeom prst="rect">
            <a:avLst/>
          </a:prstGeom>
        </p:spPr>
      </p:pic>
      <p:sp>
        <p:nvSpPr>
          <p:cNvPr id="15" name="rapport-titre-3"/>
          <p:cNvSpPr txBox="1"/>
          <p:nvPr/>
        </p:nvSpPr>
        <p:spPr>
          <a:xfrm>
            <a:off x="681228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Expliqués en français</a:t>
            </a:r>
            <a:endParaRPr lang="en-US" sz="1600" dirty="0"/>
          </a:p>
        </p:txBody>
      </p:sp>
      <p:sp>
        <p:nvSpPr>
          <p:cNvPr id="16" name="rapport-texte-3"/>
          <p:cNvSpPr txBox="1"/>
          <p:nvPr/>
        </p:nvSpPr>
        <p:spPr>
          <a:xfrm>
            <a:off x="681228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Chaque problème est situé sur sa ligne et expliqué.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Chaque problème a sa correction</a:t>
            </a:r>
            <a:endParaRPr lang="en-US" sz="3000" dirty="0"/>
          </a:p>
        </p:txBody>
      </p:sp>
      <p:sp>
        <p:nvSpPr>
          <p:cNvPr id="3" name="capture-correction-cadre"/>
          <p:cNvSpPr/>
          <p:nvPr/>
        </p:nvSpPr>
        <p:spPr>
          <a:xfrm>
            <a:off x="3246120" y="1143000"/>
            <a:ext cx="5486400" cy="3463290"/>
          </a:xfrm>
          <a:prstGeom prst="roundRect">
            <a:avLst>
              <a:gd name="adj" fmla="val 2112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4" name="capture-correction" descr="Page de correction avant/aprè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188720"/>
            <a:ext cx="5394960" cy="3371850"/>
          </a:xfrm>
          <a:prstGeom prst="rect">
            <a:avLst/>
          </a:prstGeom>
        </p:spPr>
      </p:pic>
      <p:sp>
        <p:nvSpPr>
          <p:cNvPr id="5" name="carte-correction-1"/>
          <p:cNvSpPr/>
          <p:nvPr/>
        </p:nvSpPr>
        <p:spPr>
          <a:xfrm>
            <a:off x="457200" y="118872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" name="correction-titre-1"/>
          <p:cNvSpPr txBox="1"/>
          <p:nvPr/>
        </p:nvSpPr>
        <p:spPr>
          <a:xfrm>
            <a:off x="640080" y="1298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Avant / après</a:t>
            </a:r>
            <a:endParaRPr lang="en-US" sz="1500" dirty="0"/>
          </a:p>
        </p:txBody>
      </p:sp>
      <p:sp>
        <p:nvSpPr>
          <p:cNvPr id="7" name="correction-texte-1"/>
          <p:cNvSpPr txBox="1"/>
          <p:nvPr/>
        </p:nvSpPr>
        <p:spPr>
          <a:xfrm>
            <a:off x="640080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 code fautif et le code corrigé, côte à côte.</a:t>
            </a:r>
            <a:endParaRPr lang="en-US" sz="1200" dirty="0"/>
          </a:p>
        </p:txBody>
      </p:sp>
      <p:sp>
        <p:nvSpPr>
          <p:cNvPr id="8" name="carte-correction-2"/>
          <p:cNvSpPr/>
          <p:nvPr/>
        </p:nvSpPr>
        <p:spPr>
          <a:xfrm>
            <a:off x="457200" y="22860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correction-titre-2"/>
          <p:cNvSpPr txBox="1"/>
          <p:nvPr/>
        </p:nvSpPr>
        <p:spPr>
          <a:xfrm>
            <a:off x="64008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 pourquoi</a:t>
            </a:r>
            <a:endParaRPr lang="en-US" sz="1500" dirty="0"/>
          </a:p>
        </p:txBody>
      </p:sp>
      <p:sp>
        <p:nvSpPr>
          <p:cNvPr id="10" name="correction-texte-2"/>
          <p:cNvSpPr txBox="1"/>
          <p:nvPr/>
        </p:nvSpPr>
        <p:spPr>
          <a:xfrm>
            <a:off x="640080" y="2697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Une explication simple du risque, avec la référence de sécurité (OWASP).</a:t>
            </a:r>
            <a:endParaRPr lang="en-US" sz="1200" dirty="0"/>
          </a:p>
        </p:txBody>
      </p:sp>
      <p:sp>
        <p:nvSpPr>
          <p:cNvPr id="11" name="carte-correction-3"/>
          <p:cNvSpPr/>
          <p:nvPr/>
        </p:nvSpPr>
        <p:spPr>
          <a:xfrm>
            <a:off x="457200" y="338328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correction-titre-3"/>
          <p:cNvSpPr txBox="1"/>
          <p:nvPr/>
        </p:nvSpPr>
        <p:spPr>
          <a:xfrm>
            <a:off x="640080" y="3493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 un clic</a:t>
            </a:r>
            <a:endParaRPr lang="en-US" sz="1500" dirty="0"/>
          </a:p>
        </p:txBody>
      </p:sp>
      <p:sp>
        <p:nvSpPr>
          <p:cNvPr id="13" name="correction-texte-3"/>
          <p:cNvSpPr txBox="1"/>
          <p:nvPr/>
        </p:nvSpPr>
        <p:spPr>
          <a:xfrm>
            <a:off x="64008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Copier la correction, la marquer comme faite, ou signaler une erreur de l'IA.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Suivre sa progression</a:t>
            </a:r>
            <a:endParaRPr lang="en-US" sz="3000" dirty="0"/>
          </a:p>
        </p:txBody>
      </p:sp>
      <p:sp>
        <p:nvSpPr>
          <p:cNvPr id="3" name="capture-tableau-cadre"/>
          <p:cNvSpPr/>
          <p:nvPr/>
        </p:nvSpPr>
        <p:spPr>
          <a:xfrm>
            <a:off x="411480" y="1188720"/>
            <a:ext cx="4069080" cy="2577465"/>
          </a:xfrm>
          <a:prstGeom prst="roundRect">
            <a:avLst>
              <a:gd name="adj" fmla="val 2838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4" name="capture-tableau" descr="Tableau de b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977640" cy="2486025"/>
          </a:xfrm>
          <a:prstGeom prst="rect">
            <a:avLst/>
          </a:prstGeom>
        </p:spPr>
      </p:pic>
      <p:sp>
        <p:nvSpPr>
          <p:cNvPr id="5" name="capture-historique-cadre"/>
          <p:cNvSpPr/>
          <p:nvPr/>
        </p:nvSpPr>
        <p:spPr>
          <a:xfrm>
            <a:off x="4663440" y="1188720"/>
            <a:ext cx="4069080" cy="2577465"/>
          </a:xfrm>
          <a:prstGeom prst="roundRect">
            <a:avLst>
              <a:gd name="adj" fmla="val 2838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6" name="capture-historique" descr="Historique des revu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3977640" cy="2486025"/>
          </a:xfrm>
          <a:prstGeom prst="rect">
            <a:avLst/>
          </a:prstGeom>
        </p:spPr>
      </p:pic>
      <p:sp>
        <p:nvSpPr>
          <p:cNvPr id="7" name="legende-tableau"/>
          <p:cNvSpPr txBox="1"/>
          <p:nvPr/>
        </p:nvSpPr>
        <p:spPr>
          <a:xfrm>
            <a:off x="457200" y="38404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Tableau de bord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Score moyen, problèmes les plus fréquents, évolution sur 30 jours.</a:t>
            </a:r>
            <a:endParaRPr lang="en-US" sz="1400" dirty="0"/>
          </a:p>
        </p:txBody>
      </p:sp>
      <p:sp>
        <p:nvSpPr>
          <p:cNvPr id="8" name="legende-historique"/>
          <p:cNvSpPr txBox="1"/>
          <p:nvPr/>
        </p:nvSpPr>
        <p:spPr>
          <a:xfrm>
            <a:off x="4709160" y="38404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Historique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Toutes les revues, avec recherche, filtres et export.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 assistant pour poser ses questions</a:t>
            </a:r>
            <a:endParaRPr lang="en-US" sz="3000" dirty="0"/>
          </a:p>
        </p:txBody>
      </p:sp>
      <p:sp>
        <p:nvSpPr>
          <p:cNvPr id="3" name="capture-assistant-cadre"/>
          <p:cNvSpPr/>
          <p:nvPr/>
        </p:nvSpPr>
        <p:spPr>
          <a:xfrm>
            <a:off x="411480" y="1143000"/>
            <a:ext cx="5486400" cy="3463290"/>
          </a:xfrm>
          <a:prstGeom prst="roundRect">
            <a:avLst>
              <a:gd name="adj" fmla="val 2112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4" name="capture-assistant" descr="Assistant IA : page d'accueil avec sugg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3371850"/>
          </a:xfrm>
          <a:prstGeom prst="rect">
            <a:avLst/>
          </a:prstGeom>
        </p:spPr>
      </p:pic>
      <p:sp>
        <p:nvSpPr>
          <p:cNvPr id="5" name="assistant-1-cercle"/>
          <p:cNvSpPr/>
          <p:nvPr/>
        </p:nvSpPr>
        <p:spPr>
          <a:xfrm>
            <a:off x="6172200" y="1188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ssistant-1-icone" descr="assistant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30" y="1314450"/>
            <a:ext cx="251460" cy="251460"/>
          </a:xfrm>
          <a:prstGeom prst="rect">
            <a:avLst/>
          </a:prstGeom>
        </p:spPr>
      </p:pic>
      <p:sp>
        <p:nvSpPr>
          <p:cNvPr id="7" name="assistant-titre-1"/>
          <p:cNvSpPr txBox="1"/>
          <p:nvPr/>
        </p:nvSpPr>
        <p:spPr>
          <a:xfrm>
            <a:off x="6812280" y="1170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Une discussion</a:t>
            </a:r>
            <a:endParaRPr lang="en-US" sz="1600" dirty="0"/>
          </a:p>
        </p:txBody>
      </p:sp>
      <p:sp>
        <p:nvSpPr>
          <p:cNvPr id="8" name="assistant-texte-1"/>
          <p:cNvSpPr txBox="1"/>
          <p:nvPr/>
        </p:nvSpPr>
        <p:spPr>
          <a:xfrm>
            <a:off x="681228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 pose sa question, avec ou sans code.</a:t>
            </a:r>
            <a:endParaRPr lang="en-US" sz="1300" dirty="0"/>
          </a:p>
        </p:txBody>
      </p:sp>
      <p:sp>
        <p:nvSpPr>
          <p:cNvPr id="9" name="assistant-2-cercle"/>
          <p:cNvSpPr/>
          <p:nvPr/>
        </p:nvSpPr>
        <p:spPr>
          <a:xfrm>
            <a:off x="6172200" y="2331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ssistant-2-icone" descr="assistant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2457450"/>
            <a:ext cx="251460" cy="251460"/>
          </a:xfrm>
          <a:prstGeom prst="rect">
            <a:avLst/>
          </a:prstGeom>
        </p:spPr>
      </p:pic>
      <p:sp>
        <p:nvSpPr>
          <p:cNvPr id="11" name="assistant-titre-2"/>
          <p:cNvSpPr txBox="1"/>
          <p:nvPr/>
        </p:nvSpPr>
        <p:spPr>
          <a:xfrm>
            <a:off x="6812280" y="2313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Réponse en direct</a:t>
            </a:r>
            <a:endParaRPr lang="en-US" sz="1600" dirty="0"/>
          </a:p>
        </p:txBody>
      </p:sp>
      <p:sp>
        <p:nvSpPr>
          <p:cNvPr id="12" name="assistant-texte-2"/>
          <p:cNvSpPr txBox="1"/>
          <p:nvPr/>
        </p:nvSpPr>
        <p:spPr>
          <a:xfrm>
            <a:off x="681228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Le texte s'affiche au fur et à mesure.</a:t>
            </a:r>
            <a:endParaRPr lang="en-US" sz="1300" dirty="0"/>
          </a:p>
        </p:txBody>
      </p:sp>
      <p:sp>
        <p:nvSpPr>
          <p:cNvPr id="13" name="assistant-3-cercle"/>
          <p:cNvSpPr/>
          <p:nvPr/>
        </p:nvSpPr>
        <p:spPr>
          <a:xfrm>
            <a:off x="6172200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assistant-3-icone" descr="assistant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930" y="3600450"/>
            <a:ext cx="251460" cy="251460"/>
          </a:xfrm>
          <a:prstGeom prst="rect">
            <a:avLst/>
          </a:prstGeom>
        </p:spPr>
      </p:pic>
      <p:sp>
        <p:nvSpPr>
          <p:cNvPr id="15" name="assistant-titre-3"/>
          <p:cNvSpPr txBox="1"/>
          <p:nvPr/>
        </p:nvSpPr>
        <p:spPr>
          <a:xfrm>
            <a:off x="681228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Reste dans son rôle</a:t>
            </a:r>
            <a:endParaRPr lang="en-US" sz="1600" dirty="0"/>
          </a:p>
        </p:txBody>
      </p:sp>
      <p:sp>
        <p:nvSpPr>
          <p:cNvPr id="16" name="assistant-texte-3"/>
          <p:cNvSpPr txBox="1"/>
          <p:nvPr/>
        </p:nvSpPr>
        <p:spPr>
          <a:xfrm>
            <a:off x="681228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Il répond en français et seulement sur la programmation.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Une boîte à outils en un clic</a:t>
            </a:r>
            <a:endParaRPr lang="en-US" sz="3000" dirty="0"/>
          </a:p>
        </p:txBody>
      </p:sp>
      <p:sp>
        <p:nvSpPr>
          <p:cNvPr id="3" name="capture-outils-cadre"/>
          <p:cNvSpPr/>
          <p:nvPr/>
        </p:nvSpPr>
        <p:spPr>
          <a:xfrm>
            <a:off x="3611880" y="1143000"/>
            <a:ext cx="5120640" cy="3234690"/>
          </a:xfrm>
          <a:prstGeom prst="roundRect">
            <a:avLst>
              <a:gd name="adj" fmla="val 2261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4" name="capture-outils" descr="Boîte à outils IA : génération de te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188720"/>
            <a:ext cx="5029200" cy="3143250"/>
          </a:xfrm>
          <a:prstGeom prst="rect">
            <a:avLst/>
          </a:prstGeom>
        </p:spPr>
      </p:pic>
      <p:sp>
        <p:nvSpPr>
          <p:cNvPr id="5" name="carte-outil-1"/>
          <p:cNvSpPr/>
          <p:nvPr/>
        </p:nvSpPr>
        <p:spPr>
          <a:xfrm>
            <a:off x="457200" y="1188720"/>
            <a:ext cx="1417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" name="outil-1-cercle"/>
          <p:cNvSpPr/>
          <p:nvPr/>
        </p:nvSpPr>
        <p:spPr>
          <a:xfrm>
            <a:off x="960120" y="12984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outil-1-icone" descr="outi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1401318"/>
            <a:ext cx="205740" cy="205740"/>
          </a:xfrm>
          <a:prstGeom prst="rect">
            <a:avLst/>
          </a:prstGeom>
        </p:spPr>
      </p:pic>
      <p:sp>
        <p:nvSpPr>
          <p:cNvPr id="8" name="outil-nom-1"/>
          <p:cNvSpPr txBox="1"/>
          <p:nvPr/>
        </p:nvSpPr>
        <p:spPr>
          <a:xfrm>
            <a:off x="502920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Tests</a:t>
            </a:r>
            <a:endParaRPr lang="en-US" sz="1200" dirty="0"/>
          </a:p>
        </p:txBody>
      </p:sp>
      <p:sp>
        <p:nvSpPr>
          <p:cNvPr id="9" name="carte-outil-2"/>
          <p:cNvSpPr/>
          <p:nvPr/>
        </p:nvSpPr>
        <p:spPr>
          <a:xfrm>
            <a:off x="2011680" y="1188720"/>
            <a:ext cx="1417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outil-2-cercle"/>
          <p:cNvSpPr/>
          <p:nvPr/>
        </p:nvSpPr>
        <p:spPr>
          <a:xfrm>
            <a:off x="2514600" y="12984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outil-2-icone" descr="outi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470" y="1401318"/>
            <a:ext cx="205740" cy="205740"/>
          </a:xfrm>
          <a:prstGeom prst="rect">
            <a:avLst/>
          </a:prstGeom>
        </p:spPr>
      </p:pic>
      <p:sp>
        <p:nvSpPr>
          <p:cNvPr id="12" name="outil-nom-2"/>
          <p:cNvSpPr txBox="1"/>
          <p:nvPr/>
        </p:nvSpPr>
        <p:spPr>
          <a:xfrm>
            <a:off x="2057400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13" name="carte-outil-3"/>
          <p:cNvSpPr/>
          <p:nvPr/>
        </p:nvSpPr>
        <p:spPr>
          <a:xfrm>
            <a:off x="457200" y="2286000"/>
            <a:ext cx="1417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4" name="outil-3-cercle"/>
          <p:cNvSpPr/>
          <p:nvPr/>
        </p:nvSpPr>
        <p:spPr>
          <a:xfrm>
            <a:off x="960120" y="23957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outil-3-icone" descr="outi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" y="2498598"/>
            <a:ext cx="205740" cy="205740"/>
          </a:xfrm>
          <a:prstGeom prst="rect">
            <a:avLst/>
          </a:prstGeom>
        </p:spPr>
      </p:pic>
      <p:sp>
        <p:nvSpPr>
          <p:cNvPr id="16" name="outil-nom-3"/>
          <p:cNvSpPr txBox="1"/>
          <p:nvPr/>
        </p:nvSpPr>
        <p:spPr>
          <a:xfrm>
            <a:off x="502920" y="2880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Explication</a:t>
            </a:r>
            <a:endParaRPr lang="en-US" sz="1200" dirty="0"/>
          </a:p>
        </p:txBody>
      </p:sp>
      <p:sp>
        <p:nvSpPr>
          <p:cNvPr id="17" name="carte-outil-4"/>
          <p:cNvSpPr/>
          <p:nvPr/>
        </p:nvSpPr>
        <p:spPr>
          <a:xfrm>
            <a:off x="2011680" y="2286000"/>
            <a:ext cx="1417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8" name="outil-4-cercle"/>
          <p:cNvSpPr/>
          <p:nvPr/>
        </p:nvSpPr>
        <p:spPr>
          <a:xfrm>
            <a:off x="2514600" y="23957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outil-4-icone" descr="outil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470" y="2498598"/>
            <a:ext cx="205740" cy="205740"/>
          </a:xfrm>
          <a:prstGeom prst="rect">
            <a:avLst/>
          </a:prstGeom>
        </p:spPr>
      </p:pic>
      <p:sp>
        <p:nvSpPr>
          <p:cNvPr id="20" name="outil-nom-4"/>
          <p:cNvSpPr txBox="1"/>
          <p:nvPr/>
        </p:nvSpPr>
        <p:spPr>
          <a:xfrm>
            <a:off x="2057400" y="2880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Message de commit</a:t>
            </a:r>
            <a:endParaRPr lang="en-US" sz="1200" dirty="0"/>
          </a:p>
        </p:txBody>
      </p:sp>
      <p:sp>
        <p:nvSpPr>
          <p:cNvPr id="21" name="carte-outil-5"/>
          <p:cNvSpPr/>
          <p:nvPr/>
        </p:nvSpPr>
        <p:spPr>
          <a:xfrm>
            <a:off x="457200" y="3383280"/>
            <a:ext cx="1417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2" name="outil-5-cercle"/>
          <p:cNvSpPr/>
          <p:nvPr/>
        </p:nvSpPr>
        <p:spPr>
          <a:xfrm>
            <a:off x="960120" y="34930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outil-5-icone" descr="outil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990" y="3595878"/>
            <a:ext cx="205740" cy="205740"/>
          </a:xfrm>
          <a:prstGeom prst="rect">
            <a:avLst/>
          </a:prstGeom>
        </p:spPr>
      </p:pic>
      <p:sp>
        <p:nvSpPr>
          <p:cNvPr id="24" name="outil-nom-5"/>
          <p:cNvSpPr txBox="1"/>
          <p:nvPr/>
        </p:nvSpPr>
        <p:spPr>
          <a:xfrm>
            <a:off x="502920" y="3977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Refactoring</a:t>
            </a:r>
            <a:endParaRPr lang="en-US" sz="1200" dirty="0"/>
          </a:p>
        </p:txBody>
      </p:sp>
      <p:sp>
        <p:nvSpPr>
          <p:cNvPr id="25" name="carte-outil-6"/>
          <p:cNvSpPr/>
          <p:nvPr/>
        </p:nvSpPr>
        <p:spPr>
          <a:xfrm>
            <a:off x="2011680" y="3383280"/>
            <a:ext cx="1417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6" name="outil-6-cercle"/>
          <p:cNvSpPr/>
          <p:nvPr/>
        </p:nvSpPr>
        <p:spPr>
          <a:xfrm>
            <a:off x="2514600" y="34930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outil-6-icone" descr="outil-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7470" y="3595878"/>
            <a:ext cx="205740" cy="205740"/>
          </a:xfrm>
          <a:prstGeom prst="rect">
            <a:avLst/>
          </a:prstGeom>
        </p:spPr>
      </p:pic>
      <p:sp>
        <p:nvSpPr>
          <p:cNvPr id="28" name="outil-nom-6"/>
          <p:cNvSpPr txBox="1"/>
          <p:nvPr/>
        </p:nvSpPr>
        <p:spPr>
          <a:xfrm>
            <a:off x="2057400" y="3977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Conversion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Comment ça marche ?</a:t>
            </a:r>
            <a:endParaRPr lang="en-US" sz="3000" dirty="0"/>
          </a:p>
        </p:txBody>
      </p:sp>
      <p:sp>
        <p:nvSpPr>
          <p:cNvPr id="3" name="flux-1-cercle"/>
          <p:cNvSpPr/>
          <p:nvPr/>
        </p:nvSpPr>
        <p:spPr>
          <a:xfrm>
            <a:off x="841248" y="146304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flux-1-icone" descr="flux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58" y="1657350"/>
            <a:ext cx="388620" cy="388620"/>
          </a:xfrm>
          <a:prstGeom prst="rect">
            <a:avLst/>
          </a:prstGeom>
        </p:spPr>
      </p:pic>
      <p:sp>
        <p:nvSpPr>
          <p:cNvPr id="5" name="flux-fleche-1"/>
          <p:cNvSpPr/>
          <p:nvPr/>
        </p:nvSpPr>
        <p:spPr>
          <a:xfrm>
            <a:off x="1755648" y="1737360"/>
            <a:ext cx="292608" cy="228600"/>
          </a:xfrm>
          <a:prstGeom prst="rightArrow">
            <a:avLst/>
          </a:prstGeom>
          <a:solidFill>
            <a:srgbClr val="D9DBEA"/>
          </a:solidFill>
          <a:ln/>
        </p:spPr>
      </p:sp>
      <p:sp>
        <p:nvSpPr>
          <p:cNvPr id="6" name="flux-titre-1"/>
          <p:cNvSpPr txBox="1"/>
          <p:nvPr/>
        </p:nvSpPr>
        <p:spPr>
          <a:xfrm>
            <a:off x="45720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Votre code</a:t>
            </a:r>
            <a:endParaRPr lang="en-US" sz="1500" dirty="0"/>
          </a:p>
        </p:txBody>
      </p:sp>
      <p:sp>
        <p:nvSpPr>
          <p:cNvPr id="7" name="flux-texte-1"/>
          <p:cNvSpPr txBox="1"/>
          <p:nvPr/>
        </p:nvSpPr>
        <p:spPr>
          <a:xfrm>
            <a:off x="45720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est préparé et numéroté</a:t>
            </a:r>
            <a:endParaRPr lang="en-US" sz="1200" dirty="0"/>
          </a:p>
        </p:txBody>
      </p:sp>
      <p:sp>
        <p:nvSpPr>
          <p:cNvPr id="8" name="flux-2-cercle"/>
          <p:cNvSpPr/>
          <p:nvPr/>
        </p:nvSpPr>
        <p:spPr>
          <a:xfrm>
            <a:off x="2542032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lux-2-icone" descr="flux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42" y="1657350"/>
            <a:ext cx="388620" cy="388620"/>
          </a:xfrm>
          <a:prstGeom prst="rect">
            <a:avLst/>
          </a:prstGeom>
        </p:spPr>
      </p:pic>
      <p:sp>
        <p:nvSpPr>
          <p:cNvPr id="10" name="flux-fleche-2"/>
          <p:cNvSpPr/>
          <p:nvPr/>
        </p:nvSpPr>
        <p:spPr>
          <a:xfrm>
            <a:off x="3456432" y="1737360"/>
            <a:ext cx="292608" cy="228600"/>
          </a:xfrm>
          <a:prstGeom prst="rightArrow">
            <a:avLst/>
          </a:prstGeom>
          <a:solidFill>
            <a:srgbClr val="D9DBEA"/>
          </a:solidFill>
          <a:ln/>
        </p:spPr>
      </p:sp>
      <p:sp>
        <p:nvSpPr>
          <p:cNvPr id="11" name="flux-titre-2"/>
          <p:cNvSpPr txBox="1"/>
          <p:nvPr/>
        </p:nvSpPr>
        <p:spPr>
          <a:xfrm>
            <a:off x="2157984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Secrets cachés</a:t>
            </a:r>
            <a:endParaRPr lang="en-US" sz="1500" dirty="0"/>
          </a:p>
        </p:txBody>
      </p:sp>
      <p:sp>
        <p:nvSpPr>
          <p:cNvPr id="12" name="flux-texte-2"/>
          <p:cNvSpPr txBox="1"/>
          <p:nvPr/>
        </p:nvSpPr>
        <p:spPr>
          <a:xfrm>
            <a:off x="2157984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mots de passe et clés sont masqués</a:t>
            </a:r>
            <a:endParaRPr lang="en-US" sz="1200" dirty="0"/>
          </a:p>
        </p:txBody>
      </p:sp>
      <p:sp>
        <p:nvSpPr>
          <p:cNvPr id="13" name="flux-3-cercle"/>
          <p:cNvSpPr/>
          <p:nvPr/>
        </p:nvSpPr>
        <p:spPr>
          <a:xfrm>
            <a:off x="4242816" y="146304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4" name="flux-3-icone" descr="flux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126" y="1657350"/>
            <a:ext cx="388620" cy="388620"/>
          </a:xfrm>
          <a:prstGeom prst="rect">
            <a:avLst/>
          </a:prstGeom>
        </p:spPr>
      </p:pic>
      <p:sp>
        <p:nvSpPr>
          <p:cNvPr id="15" name="flux-fleche-3"/>
          <p:cNvSpPr/>
          <p:nvPr/>
        </p:nvSpPr>
        <p:spPr>
          <a:xfrm>
            <a:off x="5157216" y="1737360"/>
            <a:ext cx="292608" cy="228600"/>
          </a:xfrm>
          <a:prstGeom prst="rightArrow">
            <a:avLst/>
          </a:prstGeom>
          <a:solidFill>
            <a:srgbClr val="D9DBEA"/>
          </a:solidFill>
          <a:ln/>
        </p:spPr>
      </p:sp>
      <p:sp>
        <p:nvSpPr>
          <p:cNvPr id="16" name="flux-titre-3"/>
          <p:cNvSpPr txBox="1"/>
          <p:nvPr/>
        </p:nvSpPr>
        <p:spPr>
          <a:xfrm>
            <a:off x="3858768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L'IA analyse</a:t>
            </a:r>
            <a:endParaRPr lang="en-US" sz="1500" dirty="0"/>
          </a:p>
        </p:txBody>
      </p:sp>
      <p:sp>
        <p:nvSpPr>
          <p:cNvPr id="17" name="flux-texte-3"/>
          <p:cNvSpPr txBox="1"/>
          <p:nvPr/>
        </p:nvSpPr>
        <p:spPr>
          <a:xfrm>
            <a:off x="3858768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Google Gemini relit le code</a:t>
            </a:r>
            <a:endParaRPr lang="en-US" sz="1200" dirty="0"/>
          </a:p>
        </p:txBody>
      </p:sp>
      <p:sp>
        <p:nvSpPr>
          <p:cNvPr id="18" name="flux-4-cercle"/>
          <p:cNvSpPr/>
          <p:nvPr/>
        </p:nvSpPr>
        <p:spPr>
          <a:xfrm>
            <a:off x="5943600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flux-4-icone" descr="flux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910" y="1657350"/>
            <a:ext cx="388620" cy="388620"/>
          </a:xfrm>
          <a:prstGeom prst="rect">
            <a:avLst/>
          </a:prstGeom>
        </p:spPr>
      </p:pic>
      <p:sp>
        <p:nvSpPr>
          <p:cNvPr id="20" name="flux-fleche-4"/>
          <p:cNvSpPr/>
          <p:nvPr/>
        </p:nvSpPr>
        <p:spPr>
          <a:xfrm>
            <a:off x="6858000" y="1737360"/>
            <a:ext cx="292608" cy="228600"/>
          </a:xfrm>
          <a:prstGeom prst="rightArrow">
            <a:avLst/>
          </a:prstGeom>
          <a:solidFill>
            <a:srgbClr val="D9DBEA"/>
          </a:solidFill>
          <a:ln/>
        </p:spPr>
      </p:sp>
      <p:sp>
        <p:nvSpPr>
          <p:cNvPr id="21" name="flux-titre-4"/>
          <p:cNvSpPr txBox="1"/>
          <p:nvPr/>
        </p:nvSpPr>
        <p:spPr>
          <a:xfrm>
            <a:off x="5559552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Vérification</a:t>
            </a:r>
            <a:endParaRPr lang="en-US" sz="1500" dirty="0"/>
          </a:p>
        </p:txBody>
      </p:sp>
      <p:sp>
        <p:nvSpPr>
          <p:cNvPr id="22" name="flux-texte-4"/>
          <p:cNvSpPr txBox="1"/>
          <p:nvPr/>
        </p:nvSpPr>
        <p:spPr>
          <a:xfrm>
            <a:off x="5559552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la réponse de l'IA est contrôlée</a:t>
            </a:r>
            <a:endParaRPr lang="en-US" sz="1200" dirty="0"/>
          </a:p>
        </p:txBody>
      </p:sp>
      <p:sp>
        <p:nvSpPr>
          <p:cNvPr id="23" name="flux-5-cercle"/>
          <p:cNvSpPr/>
          <p:nvPr/>
        </p:nvSpPr>
        <p:spPr>
          <a:xfrm>
            <a:off x="7644384" y="146304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4" name="flux-5-icone" descr="flux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8694" y="1657350"/>
            <a:ext cx="388620" cy="388620"/>
          </a:xfrm>
          <a:prstGeom prst="rect">
            <a:avLst/>
          </a:prstGeom>
        </p:spPr>
      </p:pic>
      <p:sp>
        <p:nvSpPr>
          <p:cNvPr id="25" name="flux-titre-5"/>
          <p:cNvSpPr txBox="1"/>
          <p:nvPr/>
        </p:nvSpPr>
        <p:spPr>
          <a:xfrm>
            <a:off x="7260336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Rapport</a:t>
            </a:r>
            <a:endParaRPr lang="en-US" sz="1500" dirty="0"/>
          </a:p>
        </p:txBody>
      </p:sp>
      <p:sp>
        <p:nvSpPr>
          <p:cNvPr id="26" name="flux-texte-5"/>
          <p:cNvSpPr txBox="1"/>
          <p:nvPr/>
        </p:nvSpPr>
        <p:spPr>
          <a:xfrm>
            <a:off x="7260336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enregistré et affiché</a:t>
            </a:r>
            <a:endParaRPr lang="en-US" sz="1200" dirty="0"/>
          </a:p>
        </p:txBody>
      </p:sp>
      <p:sp>
        <p:nvSpPr>
          <p:cNvPr id="27" name="bandeau-demo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8" name="texte-demo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Mode démo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sans connexion à l'IA, des règles d'analyse intégrées permettent de tout tester gratuitement.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Vos données restent protégées</a:t>
            </a:r>
            <a:endParaRPr lang="en-US" sz="3000" dirty="0"/>
          </a:p>
        </p:txBody>
      </p:sp>
      <p:sp>
        <p:nvSpPr>
          <p:cNvPr id="3" name="carte-securite-1"/>
          <p:cNvSpPr/>
          <p:nvPr/>
        </p:nvSpPr>
        <p:spPr>
          <a:xfrm>
            <a:off x="457200" y="12344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securite-1-cercle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ecurite-1-icone" descr="securite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57350"/>
            <a:ext cx="297180" cy="297180"/>
          </a:xfrm>
          <a:prstGeom prst="rect">
            <a:avLst/>
          </a:prstGeom>
        </p:spPr>
      </p:pic>
      <p:sp>
        <p:nvSpPr>
          <p:cNvPr id="6" name="securite-titre-1"/>
          <p:cNvSpPr txBox="1"/>
          <p:nvPr/>
        </p:nvSpPr>
        <p:spPr>
          <a:xfrm>
            <a:off x="155448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Secrets masqués</a:t>
            </a:r>
            <a:endParaRPr lang="en-US" sz="1700" dirty="0"/>
          </a:p>
        </p:txBody>
      </p:sp>
      <p:sp>
        <p:nvSpPr>
          <p:cNvPr id="7" name="securite-texte-1"/>
          <p:cNvSpPr txBox="1"/>
          <p:nvPr/>
        </p:nvSpPr>
        <p:spPr>
          <a:xfrm>
            <a:off x="1554480" y="18562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Les mots de passe, clés et e-mails sont cachés avant d'être envoyés à l'IA.</a:t>
            </a:r>
            <a:endParaRPr lang="en-US" sz="1300" dirty="0"/>
          </a:p>
        </p:txBody>
      </p:sp>
      <p:sp>
        <p:nvSpPr>
          <p:cNvPr id="8" name="carte-securite-2"/>
          <p:cNvSpPr/>
          <p:nvPr/>
        </p:nvSpPr>
        <p:spPr>
          <a:xfrm>
            <a:off x="4663440" y="12344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securite-2-cercle"/>
          <p:cNvSpPr/>
          <p:nvPr/>
        </p:nvSpPr>
        <p:spPr>
          <a:xfrm>
            <a:off x="493776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ecurite-2-icone" descr="securite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657350"/>
            <a:ext cx="297180" cy="297180"/>
          </a:xfrm>
          <a:prstGeom prst="rect">
            <a:avLst/>
          </a:prstGeom>
        </p:spPr>
      </p:pic>
      <p:sp>
        <p:nvSpPr>
          <p:cNvPr id="11" name="securite-titre-2"/>
          <p:cNvSpPr txBox="1"/>
          <p:nvPr/>
        </p:nvSpPr>
        <p:spPr>
          <a:xfrm>
            <a:off x="576072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Clé de l'IA invisible</a:t>
            </a:r>
            <a:endParaRPr lang="en-US" sz="1700" dirty="0"/>
          </a:p>
        </p:txBody>
      </p:sp>
      <p:sp>
        <p:nvSpPr>
          <p:cNvPr id="12" name="securite-texte-2"/>
          <p:cNvSpPr txBox="1"/>
          <p:nvPr/>
        </p:nvSpPr>
        <p:spPr>
          <a:xfrm>
            <a:off x="5760720" y="18562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Elle reste sur le serveur, jamais dans le navigateur ni sur GitHub.</a:t>
            </a:r>
            <a:endParaRPr lang="en-US" sz="1300" dirty="0"/>
          </a:p>
        </p:txBody>
      </p:sp>
      <p:sp>
        <p:nvSpPr>
          <p:cNvPr id="13" name="carte-securite-3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securite-3-cercle"/>
          <p:cNvSpPr/>
          <p:nvPr/>
        </p:nvSpPr>
        <p:spPr>
          <a:xfrm>
            <a:off x="731520" y="3200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ecurite-3-icone" descr="securite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348990"/>
            <a:ext cx="297180" cy="297180"/>
          </a:xfrm>
          <a:prstGeom prst="rect">
            <a:avLst/>
          </a:prstGeom>
        </p:spPr>
      </p:pic>
      <p:sp>
        <p:nvSpPr>
          <p:cNvPr id="16" name="securite-titre-3"/>
          <p:cNvSpPr txBox="1"/>
          <p:nvPr/>
        </p:nvSpPr>
        <p:spPr>
          <a:xfrm>
            <a:off x="1554480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Comptes sécurisés</a:t>
            </a:r>
            <a:endParaRPr lang="en-US" sz="1700" dirty="0"/>
          </a:p>
        </p:txBody>
      </p:sp>
      <p:sp>
        <p:nvSpPr>
          <p:cNvPr id="17" name="securite-texte-3"/>
          <p:cNvSpPr txBox="1"/>
          <p:nvPr/>
        </p:nvSpPr>
        <p:spPr>
          <a:xfrm>
            <a:off x="1554480" y="35478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Mots de passe chiffrés, chacun ne voit que ses propres revues.</a:t>
            </a:r>
            <a:endParaRPr lang="en-US" sz="1300" dirty="0"/>
          </a:p>
        </p:txBody>
      </p:sp>
      <p:sp>
        <p:nvSpPr>
          <p:cNvPr id="18" name="carte-securite-4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securite-4-cercle"/>
          <p:cNvSpPr/>
          <p:nvPr/>
        </p:nvSpPr>
        <p:spPr>
          <a:xfrm>
            <a:off x="4937760" y="3200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ecurite-4-icone" descr="securite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3348990"/>
            <a:ext cx="297180" cy="297180"/>
          </a:xfrm>
          <a:prstGeom prst="rect">
            <a:avLst/>
          </a:prstGeom>
        </p:spPr>
      </p:pic>
      <p:sp>
        <p:nvSpPr>
          <p:cNvPr id="21" name="securite-titre-4"/>
          <p:cNvSpPr txBox="1"/>
          <p:nvPr/>
        </p:nvSpPr>
        <p:spPr>
          <a:xfrm>
            <a:off x="5760720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Usage maîtrisé</a:t>
            </a:r>
            <a:endParaRPr lang="en-US" sz="1700" dirty="0"/>
          </a:p>
        </p:txBody>
      </p:sp>
      <p:sp>
        <p:nvSpPr>
          <p:cNvPr id="22" name="securite-texte-4"/>
          <p:cNvSpPr txBox="1"/>
          <p:nvPr/>
        </p:nvSpPr>
        <p:spPr>
          <a:xfrm>
            <a:off x="5760720" y="35478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50 revues par jour et par personne, pour éviter les abus et les coûts.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Des résultats mesurés</a:t>
            </a:r>
            <a:endParaRPr lang="en-US" sz="3000" dirty="0"/>
          </a:p>
        </p:txBody>
      </p:sp>
      <p:sp>
        <p:nvSpPr>
          <p:cNvPr id="3" name="stat-valeur-1"/>
          <p:cNvSpPr txBox="1"/>
          <p:nvPr/>
        </p:nvSpPr>
        <p:spPr>
          <a:xfrm>
            <a:off x="45720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95 %</a:t>
            </a:r>
            <a:endParaRPr lang="en-US" sz="5400" dirty="0"/>
          </a:p>
        </p:txBody>
      </p:sp>
      <p:sp>
        <p:nvSpPr>
          <p:cNvPr id="4" name="stat-libelle-1"/>
          <p:cNvSpPr txBox="1"/>
          <p:nvPr/>
        </p:nvSpPr>
        <p:spPr>
          <a:xfrm>
            <a:off x="4572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des défauts trouvés</a:t>
            </a:r>
            <a:endParaRPr lang="en-US" sz="1700" dirty="0"/>
          </a:p>
        </p:txBody>
      </p:sp>
      <p:sp>
        <p:nvSpPr>
          <p:cNvPr id="5" name="stat-detail-1"/>
          <p:cNvSpPr txBox="1"/>
          <p:nvPr/>
        </p:nvSpPr>
        <p:spPr>
          <a:xfrm>
            <a:off x="45720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EDF"/>
                </a:solidFill>
              </a:rPr>
              <a:t>19 sur 20 dans notre jeu d'essai (objectif : 85 %)</a:t>
            </a:r>
            <a:endParaRPr lang="en-US" sz="1200" dirty="0"/>
          </a:p>
        </p:txBody>
      </p:sp>
      <p:sp>
        <p:nvSpPr>
          <p:cNvPr id="6" name="stat-valeur-2"/>
          <p:cNvSpPr txBox="1"/>
          <p:nvPr/>
        </p:nvSpPr>
        <p:spPr>
          <a:xfrm>
            <a:off x="256032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0</a:t>
            </a:r>
            <a:endParaRPr lang="en-US" sz="5400" dirty="0"/>
          </a:p>
        </p:txBody>
      </p:sp>
      <p:sp>
        <p:nvSpPr>
          <p:cNvPr id="7" name="stat-libelle-2"/>
          <p:cNvSpPr txBox="1"/>
          <p:nvPr/>
        </p:nvSpPr>
        <p:spPr>
          <a:xfrm>
            <a:off x="25603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fausse alerte</a:t>
            </a:r>
            <a:endParaRPr lang="en-US" sz="1700" dirty="0"/>
          </a:p>
        </p:txBody>
      </p:sp>
      <p:sp>
        <p:nvSpPr>
          <p:cNvPr id="8" name="stat-detail-2"/>
          <p:cNvSpPr txBox="1"/>
          <p:nvPr/>
        </p:nvSpPr>
        <p:spPr>
          <a:xfrm>
            <a:off x="256032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EDF"/>
                </a:solidFill>
              </a:rPr>
              <a:t>sur les 3 codes sans défaut</a:t>
            </a:r>
            <a:endParaRPr lang="en-US" sz="1200" dirty="0"/>
          </a:p>
        </p:txBody>
      </p:sp>
      <p:sp>
        <p:nvSpPr>
          <p:cNvPr id="9" name="stat-valeur-3"/>
          <p:cNvSpPr txBox="1"/>
          <p:nvPr/>
        </p:nvSpPr>
        <p:spPr>
          <a:xfrm>
            <a:off x="466344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1,5 s</a:t>
            </a:r>
            <a:endParaRPr lang="en-US" sz="5400" dirty="0"/>
          </a:p>
        </p:txBody>
      </p:sp>
      <p:sp>
        <p:nvSpPr>
          <p:cNvPr id="10" name="stat-libelle-3"/>
          <p:cNvSpPr txBox="1"/>
          <p:nvPr/>
        </p:nvSpPr>
        <p:spPr>
          <a:xfrm>
            <a:off x="466344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par analyse</a:t>
            </a:r>
            <a:endParaRPr lang="en-US" sz="1700" dirty="0"/>
          </a:p>
        </p:txBody>
      </p:sp>
      <p:sp>
        <p:nvSpPr>
          <p:cNvPr id="11" name="stat-detail-3"/>
          <p:cNvSpPr txBox="1"/>
          <p:nvPr/>
        </p:nvSpPr>
        <p:spPr>
          <a:xfrm>
            <a:off x="466344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EDF"/>
                </a:solidFill>
              </a:rPr>
              <a:t>en moyenne avec Gemini</a:t>
            </a:r>
            <a:endParaRPr lang="en-US" sz="1200" dirty="0"/>
          </a:p>
        </p:txBody>
      </p:sp>
      <p:sp>
        <p:nvSpPr>
          <p:cNvPr id="12" name="stat-valeur-4"/>
          <p:cNvSpPr txBox="1"/>
          <p:nvPr/>
        </p:nvSpPr>
        <p:spPr>
          <a:xfrm>
            <a:off x="676656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7+</a:t>
            </a:r>
            <a:endParaRPr lang="en-US" sz="5400" dirty="0"/>
          </a:p>
        </p:txBody>
      </p:sp>
      <p:sp>
        <p:nvSpPr>
          <p:cNvPr id="13" name="stat-libelle-4"/>
          <p:cNvSpPr txBox="1"/>
          <p:nvPr/>
        </p:nvSpPr>
        <p:spPr>
          <a:xfrm>
            <a:off x="67665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langages</a:t>
            </a:r>
            <a:endParaRPr lang="en-US" sz="1700" dirty="0"/>
          </a:p>
        </p:txBody>
      </p:sp>
      <p:sp>
        <p:nvSpPr>
          <p:cNvPr id="14" name="stat-detail-4"/>
          <p:cNvSpPr txBox="1"/>
          <p:nvPr/>
        </p:nvSpPr>
        <p:spPr>
          <a:xfrm>
            <a:off x="676656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EDF"/>
                </a:solidFill>
              </a:rPr>
              <a:t>Java, Python, JavaScript, TypeScript, PHP, C, C#</a:t>
            </a:r>
            <a:endParaRPr lang="en-US" sz="1200" dirty="0"/>
          </a:p>
        </p:txBody>
      </p:sp>
      <p:sp>
        <p:nvSpPr>
          <p:cNvPr id="15" name="source-stats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Mesuré sur 23 extraits de code préparés à l'avance : 20 avec un défaut connu, 3 sans défaut.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 espace administrateur</a:t>
            </a:r>
            <a:endParaRPr lang="en-US" sz="3000" dirty="0"/>
          </a:p>
        </p:txBody>
      </p:sp>
      <p:sp>
        <p:nvSpPr>
          <p:cNvPr id="3" name="capture-admin-cadre"/>
          <p:cNvSpPr/>
          <p:nvPr/>
        </p:nvSpPr>
        <p:spPr>
          <a:xfrm>
            <a:off x="411480" y="1143000"/>
            <a:ext cx="5486400" cy="3463290"/>
          </a:xfrm>
          <a:prstGeom prst="roundRect">
            <a:avLst>
              <a:gd name="adj" fmla="val 2112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4" name="capture-admin" descr="Page admini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3371850"/>
          </a:xfrm>
          <a:prstGeom prst="rect">
            <a:avLst/>
          </a:prstGeom>
        </p:spPr>
      </p:pic>
      <p:sp>
        <p:nvSpPr>
          <p:cNvPr id="5" name="admin-1-cercle"/>
          <p:cNvSpPr/>
          <p:nvPr/>
        </p:nvSpPr>
        <p:spPr>
          <a:xfrm>
            <a:off x="6172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dmin-1-icone" descr="admin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30" y="1405890"/>
            <a:ext cx="251460" cy="251460"/>
          </a:xfrm>
          <a:prstGeom prst="rect">
            <a:avLst/>
          </a:prstGeom>
        </p:spPr>
      </p:pic>
      <p:sp>
        <p:nvSpPr>
          <p:cNvPr id="7" name="admin-titre-1"/>
          <p:cNvSpPr txBox="1"/>
          <p:nvPr/>
        </p:nvSpPr>
        <p:spPr>
          <a:xfrm>
            <a:off x="681228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Gérer les comptes</a:t>
            </a:r>
            <a:endParaRPr lang="en-US" sz="1600" dirty="0"/>
          </a:p>
        </p:txBody>
      </p:sp>
      <p:sp>
        <p:nvSpPr>
          <p:cNvPr id="8" name="admin-texte-1"/>
          <p:cNvSpPr txBox="1"/>
          <p:nvPr/>
        </p:nvSpPr>
        <p:spPr>
          <a:xfrm>
            <a:off x="681228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Bloquer un utilisateur, ajuster son quota.</a:t>
            </a:r>
            <a:endParaRPr lang="en-US" sz="1300" dirty="0"/>
          </a:p>
        </p:txBody>
      </p:sp>
      <p:sp>
        <p:nvSpPr>
          <p:cNvPr id="9" name="admin-2-cercle"/>
          <p:cNvSpPr/>
          <p:nvPr/>
        </p:nvSpPr>
        <p:spPr>
          <a:xfrm>
            <a:off x="6172200" y="2743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dmin-2-icone" descr="admin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2868930"/>
            <a:ext cx="251460" cy="251460"/>
          </a:xfrm>
          <a:prstGeom prst="rect">
            <a:avLst/>
          </a:prstGeom>
        </p:spPr>
      </p:pic>
      <p:sp>
        <p:nvSpPr>
          <p:cNvPr id="11" name="admin-titre-2"/>
          <p:cNvSpPr txBox="1"/>
          <p:nvPr/>
        </p:nvSpPr>
        <p:spPr>
          <a:xfrm>
            <a:off x="6812280" y="2724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Améliorer l'IA</a:t>
            </a:r>
            <a:endParaRPr lang="en-US" sz="1600" dirty="0"/>
          </a:p>
        </p:txBody>
      </p:sp>
      <p:sp>
        <p:nvSpPr>
          <p:cNvPr id="12" name="admin-texte-2"/>
          <p:cNvSpPr txBox="1"/>
          <p:nvPr/>
        </p:nvSpPr>
        <p:spPr>
          <a:xfrm>
            <a:off x="681228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Publier une nouvelle version de ses consignes, sans arrêter l'application.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Construit avec l'IA, étape par étape</a:t>
            </a:r>
            <a:endParaRPr lang="en-US" sz="3000" dirty="0"/>
          </a:p>
        </p:txBody>
      </p:sp>
      <p:sp>
        <p:nvSpPr>
          <p:cNvPr id="3" name="frise"/>
          <p:cNvSpPr/>
          <p:nvPr/>
        </p:nvSpPr>
        <p:spPr>
          <a:xfrm>
            <a:off x="731520" y="1691640"/>
            <a:ext cx="7680960" cy="0"/>
          </a:xfrm>
          <a:prstGeom prst="line">
            <a:avLst/>
          </a:prstGeom>
          <a:noFill/>
          <a:ln w="25400">
            <a:solidFill>
              <a:srgbClr val="D9DBEA"/>
            </a:solidFill>
            <a:prstDash val="solid"/>
          </a:ln>
        </p:spPr>
      </p:sp>
      <p:sp>
        <p:nvSpPr>
          <p:cNvPr id="4" name="jalon-1"/>
          <p:cNvSpPr/>
          <p:nvPr/>
        </p:nvSpPr>
        <p:spPr>
          <a:xfrm>
            <a:off x="603504" y="1563624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jalon-texte-1"/>
          <p:cNvSpPr txBox="1"/>
          <p:nvPr/>
        </p:nvSpPr>
        <p:spPr>
          <a:xfrm>
            <a:off x="13716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Idée</a:t>
            </a:r>
            <a:endParaRPr lang="en-US" sz="1200" dirty="0"/>
          </a:p>
        </p:txBody>
      </p:sp>
      <p:sp>
        <p:nvSpPr>
          <p:cNvPr id="6" name="jalon-2"/>
          <p:cNvSpPr/>
          <p:nvPr/>
        </p:nvSpPr>
        <p:spPr>
          <a:xfrm>
            <a:off x="1883664" y="1563624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jalon-texte-2"/>
          <p:cNvSpPr txBox="1"/>
          <p:nvPr/>
        </p:nvSpPr>
        <p:spPr>
          <a:xfrm>
            <a:off x="141732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Base de l'application</a:t>
            </a:r>
            <a:endParaRPr lang="en-US" sz="1200" dirty="0"/>
          </a:p>
        </p:txBody>
      </p:sp>
      <p:sp>
        <p:nvSpPr>
          <p:cNvPr id="8" name="jalon-3"/>
          <p:cNvSpPr/>
          <p:nvPr/>
        </p:nvSpPr>
        <p:spPr>
          <a:xfrm>
            <a:off x="3163824" y="1563624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jalon-texte-3"/>
          <p:cNvSpPr txBox="1"/>
          <p:nvPr/>
        </p:nvSpPr>
        <p:spPr>
          <a:xfrm>
            <a:off x="269748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Connexion</a:t>
            </a:r>
            <a:endParaRPr lang="en-US" sz="1200" dirty="0"/>
          </a:p>
        </p:txBody>
      </p:sp>
      <p:sp>
        <p:nvSpPr>
          <p:cNvPr id="10" name="jalon-4"/>
          <p:cNvSpPr/>
          <p:nvPr/>
        </p:nvSpPr>
        <p:spPr>
          <a:xfrm>
            <a:off x="4443984" y="1563624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jalon-texte-4"/>
          <p:cNvSpPr txBox="1"/>
          <p:nvPr/>
        </p:nvSpPr>
        <p:spPr>
          <a:xfrm>
            <a:off x="397764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Branchement de l'IA</a:t>
            </a:r>
            <a:endParaRPr lang="en-US" sz="1200" dirty="0"/>
          </a:p>
        </p:txBody>
      </p:sp>
      <p:sp>
        <p:nvSpPr>
          <p:cNvPr id="12" name="jalon-5"/>
          <p:cNvSpPr/>
          <p:nvPr/>
        </p:nvSpPr>
        <p:spPr>
          <a:xfrm>
            <a:off x="5724144" y="1563624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jalon-texte-5"/>
          <p:cNvSpPr txBox="1"/>
          <p:nvPr/>
        </p:nvSpPr>
        <p:spPr>
          <a:xfrm>
            <a:off x="525780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Interface</a:t>
            </a:r>
            <a:endParaRPr lang="en-US" sz="1200" dirty="0"/>
          </a:p>
        </p:txBody>
      </p:sp>
      <p:sp>
        <p:nvSpPr>
          <p:cNvPr id="14" name="jalon-6"/>
          <p:cNvSpPr/>
          <p:nvPr/>
        </p:nvSpPr>
        <p:spPr>
          <a:xfrm>
            <a:off x="7004304" y="1563624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jalon-texte-6"/>
          <p:cNvSpPr txBox="1"/>
          <p:nvPr/>
        </p:nvSpPr>
        <p:spPr>
          <a:xfrm>
            <a:off x="653796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Tests et mise en ligne</a:t>
            </a:r>
            <a:endParaRPr lang="en-US" sz="1200" dirty="0"/>
          </a:p>
        </p:txBody>
      </p:sp>
      <p:sp>
        <p:nvSpPr>
          <p:cNvPr id="16" name="jalon-7"/>
          <p:cNvSpPr/>
          <p:nvPr/>
        </p:nvSpPr>
        <p:spPr>
          <a:xfrm>
            <a:off x="8284464" y="156362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jalon-texte-7"/>
          <p:cNvSpPr txBox="1"/>
          <p:nvPr/>
        </p:nvSpPr>
        <p:spPr>
          <a:xfrm>
            <a:off x="781812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Assistant IA</a:t>
            </a:r>
            <a:endParaRPr lang="en-US" sz="1200" dirty="0"/>
          </a:p>
        </p:txBody>
      </p:sp>
      <p:sp>
        <p:nvSpPr>
          <p:cNvPr id="18" name="chiffre-prompts"/>
          <p:cNvSpPr txBox="1"/>
          <p:nvPr/>
        </p:nvSpPr>
        <p:spPr>
          <a:xfrm>
            <a:off x="457200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44</a:t>
            </a:r>
            <a:endParaRPr lang="en-US" sz="5400" dirty="0"/>
          </a:p>
        </p:txBody>
      </p:sp>
      <p:sp>
        <p:nvSpPr>
          <p:cNvPr id="19" name="libelle-prompts"/>
          <p:cNvSpPr txBox="1"/>
          <p:nvPr/>
        </p:nvSpPr>
        <p:spPr>
          <a:xfrm>
            <a:off x="45720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demandes (prompts) adressées à l'IA, en 10 étapes</a:t>
            </a:r>
            <a:endParaRPr lang="en-US" sz="1300" dirty="0"/>
          </a:p>
        </p:txBody>
      </p:sp>
      <p:sp>
        <p:nvSpPr>
          <p:cNvPr id="20" name="carte-lecons"/>
          <p:cNvSpPr/>
          <p:nvPr/>
        </p:nvSpPr>
        <p:spPr>
          <a:xfrm>
            <a:off x="3017520" y="2743200"/>
            <a:ext cx="56692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1" name="lecons-titre"/>
          <p:cNvSpPr txBox="1"/>
          <p:nvPr/>
        </p:nvSpPr>
        <p:spPr>
          <a:xfrm>
            <a:off x="324612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 que nous avons appris</a:t>
            </a:r>
            <a:endParaRPr lang="en-US" sz="1600" dirty="0"/>
          </a:p>
        </p:txBody>
      </p:sp>
      <p:sp>
        <p:nvSpPr>
          <p:cNvPr id="22" name="lecons-liste"/>
          <p:cNvSpPr txBox="1"/>
          <p:nvPr/>
        </p:nvSpPr>
        <p:spPr>
          <a:xfrm>
            <a:off x="3246120" y="3246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Plus la demande est précise, meilleure est la réponse.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L'IA se trompe parfois : il faut toujours vérifier ce qu'elle produit.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mesure avant et après chaque amélioration.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Merci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Place à la démonstration et à vos questions</a:t>
            </a:r>
            <a:endParaRPr lang="en-US" sz="2000" dirty="0"/>
          </a:p>
        </p:txBody>
      </p:sp>
      <p:sp>
        <p:nvSpPr>
          <p:cNvPr id="4" name="comptes-demo"/>
          <p:cNvSpPr txBox="1"/>
          <p:nvPr/>
        </p:nvSpPr>
        <p:spPr>
          <a:xfrm>
            <a:off x="548640" y="3383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Comptes de démonstration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Développeur : sarra@revia.local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Administrateur : admin@revia.local</a:t>
            </a:r>
            <a:endParaRPr lang="en-US" sz="1300" dirty="0"/>
          </a:p>
        </p:txBody>
      </p:sp>
      <p:sp>
        <p:nvSpPr>
          <p:cNvPr id="5" name="capture-outils-fin-cadre"/>
          <p:cNvSpPr/>
          <p:nvPr/>
        </p:nvSpPr>
        <p:spPr>
          <a:xfrm>
            <a:off x="4846320" y="1051560"/>
            <a:ext cx="3977640" cy="2520315"/>
          </a:xfrm>
          <a:prstGeom prst="roundRect">
            <a:avLst>
              <a:gd name="adj" fmla="val 2902"/>
            </a:avLst>
          </a:prstGeom>
          <a:solidFill>
            <a:schemeClr val="bg1"/>
          </a:solidFill>
          <a:ln w="9525">
            <a:solidFill>
              <a:srgbClr val="D9DBEA"/>
            </a:solidFill>
            <a:prstDash val="solid"/>
          </a:ln>
          <a:effectLst>
            <a:outerShdw sx="100000" sy="100000" kx="0" ky="0" algn="bl" rotWithShape="0" blurRad="152400" dist="38100" dir="5400000">
              <a:srgbClr val="0B0E1D">
                <a:alpha val="18000"/>
              </a:srgbClr>
            </a:outerShdw>
          </a:effectLst>
        </p:spPr>
      </p:sp>
      <p:pic>
        <p:nvPicPr>
          <p:cNvPr id="6" name="capture-outils-fin" descr="Boîte à outils Rev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97280"/>
            <a:ext cx="3886200" cy="2428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vIA">
  <a:themeElements>
    <a:clrScheme name="RevIA">
      <a:dk1>
        <a:srgbClr val="111827"/>
      </a:dk1>
      <a:lt1>
        <a:srgbClr val="FFFFFF"/>
      </a:lt1>
      <a:dk2>
        <a:srgbClr val="0B0E1D"/>
      </a:dk2>
      <a:lt2>
        <a:srgbClr val="F3F4FB"/>
      </a:lt2>
      <a:accent1>
        <a:srgbClr val="5B5BF6"/>
      </a:accent1>
      <a:accent2>
        <a:srgbClr val="E5484D"/>
      </a:accent2>
      <a:accent3>
        <a:srgbClr val="F59E0B"/>
      </a:accent3>
      <a:accent4>
        <a:srgbClr val="22A06B"/>
      </a:accent4>
      <a:accent5>
        <a:srgbClr val="A5A6FB"/>
      </a:accent5>
      <a:accent6>
        <a:srgbClr val="64748B"/>
      </a:accent6>
      <a:hlink>
        <a:srgbClr val="5B5BF6"/>
      </a:hlink>
      <a:folHlink>
        <a:srgbClr val="A5A6FB"/>
      </a:folHlink>
    </a:clrScheme>
    <a:fontScheme name="Rev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RevIA</dc:title>
  <dc:subject>PptxGenJS Presentation</dc:subject>
  <dc:creator>Équipe RevIA</dc:creator>
  <cp:lastModifiedBy>Équipe RevIA</cp:lastModifiedBy>
  <cp:revision>1</cp:revision>
  <dcterms:created xsi:type="dcterms:W3CDTF">2026-10-26T17:48:37Z</dcterms:created>
  <dcterms:modified xsi:type="dcterms:W3CDTF">2026-10-26T17:48:37Z</dcterms:modified>
</cp:coreProperties>
</file>